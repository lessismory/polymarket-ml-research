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943AE-1E30-3F4E-B603-0CBAE81D33F8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80296B-28B4-E24F-8A71-8F3A639B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676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6D982-6F54-7220-6364-45A26F78E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3B7DCE-C0F3-5D02-A755-F2B526933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0831F-5172-54EB-3340-C033014BF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744A-818B-A547-A7CE-8AF1707C173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13C26-F914-8843-6364-E82E62933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17E38-3307-B653-5243-82E74AFBA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D2C7-3B61-7A46-AFC8-AF416655D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717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87B10-895F-416B-1B6D-1AFEDADFC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4E956-8C51-14C9-21C1-C24061C46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B1ABC-69F4-4FE7-31F3-3E03ED1C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744A-818B-A547-A7CE-8AF1707C173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56519-A70A-8717-AF29-1834D4588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AE942-0588-0355-B82E-4A3ACFD87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D2C7-3B61-7A46-AFC8-AF416655D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41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5BAD8-61DC-61F0-462F-5E133658F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D890A-1571-5204-6975-4D59C3995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D3A83-5E8F-D75A-EA46-7D094ED51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744A-818B-A547-A7CE-8AF1707C173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21B10-E256-8D52-AD20-5D4E2B010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8802C-45BF-3B4A-D700-5EF615E22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D2C7-3B61-7A46-AFC8-AF416655D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7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AFBC3-3DEB-3CCC-B310-0225CD39C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EC0D2-0B84-4CF4-195E-9F0DB4513C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3BFD49-0DE4-4268-F064-85B8D8876B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3180B-83C9-ECD6-88AE-0795AE6CB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744A-818B-A547-A7CE-8AF1707C173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0593C7-88E0-29D1-CEAB-380A383FE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D4F14-D0DD-4C24-3B43-3620688F1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D2C7-3B61-7A46-AFC8-AF416655D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58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D15E2-E9D5-7095-F30A-3B5A85256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B423C-694D-F641-FE79-E08C15859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05DA5-55AB-01A1-1B99-7B12DE46E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FC913C-0D24-CFD6-B4E4-CFCDD100E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110429-08BA-1CD8-1804-06EACE6AE9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6E9FC3-9F6C-9ADE-B687-F3E6AE00A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744A-818B-A547-A7CE-8AF1707C173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D515D9-AB4A-A817-CA2F-8F653A476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D47C9C-E18E-EC87-B845-E538B52C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D2C7-3B61-7A46-AFC8-AF416655D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99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FF545-BEFB-31AE-B899-266420453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9EC116-2A4F-8A02-77C6-9D32DB0EA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744A-818B-A547-A7CE-8AF1707C173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8A61B1-EC14-E969-02BC-DF48A49F1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711093-10B4-222A-4932-AFC071886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D2C7-3B61-7A46-AFC8-AF416655D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574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E8AFFF-C33B-B46C-1FAB-9BB8214CE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744A-818B-A547-A7CE-8AF1707C173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9A2FB-99FB-E0E8-0BA5-BA0624220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64EE7-08C9-5CFD-5101-4A26F5A6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D2C7-3B61-7A46-AFC8-AF416655D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298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88392-66D3-9C28-19C1-671F0FD2E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387AB-4855-89F0-2899-6B5FA2F83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BE972-980F-7BCA-1CC6-9FD4FEA51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FE134-61E8-2F28-3222-1FA3BC5C6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744A-818B-A547-A7CE-8AF1707C173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E0FEB-3C3F-211F-9AF7-4FE32EDB5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8B1B3-9B84-A7FD-1D8C-5A326554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D2C7-3B61-7A46-AFC8-AF416655D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13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0F354-D255-3683-D5FE-85CC6B369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B61CC3-0BD8-A620-FA7C-D5448F8977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082EF1-F9CE-AA19-595C-FFA42ACD1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0892E-5EC3-A308-A0A9-657064531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744A-818B-A547-A7CE-8AF1707C173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991E7-D746-1210-D3C8-DC0F99D8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53C67-9C39-6862-ADE6-AE5034904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D2C7-3B61-7A46-AFC8-AF416655D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89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B0791-6AB1-0FE9-9A41-B29257B1C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3C0C6-1E36-6AB3-9F64-14DF44EE4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7E09E-A85C-6858-4C60-6D6EA7719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744A-818B-A547-A7CE-8AF1707C173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9EBD5-C218-BCAF-F3DC-DB842BB6D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BF35D-A33E-D728-B058-9377B0A64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D2C7-3B61-7A46-AFC8-AF416655D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65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AFAD4B-B881-BF1F-F21E-8D8F9F49F4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A4FEC0-AA9F-A9D9-538D-CC3E986BD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4295D-01ED-1CD1-2331-3DF5A81B4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D744A-818B-A547-A7CE-8AF1707C173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A4664-A43B-03D7-9B64-AF49DA67A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2AA8F-767C-07FA-E444-4F36121F4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7D2C7-3B61-7A46-AFC8-AF416655D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39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561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3DDD15-3B41-9C60-B1DF-B8711EB62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26396-8DB7-05C3-C337-1A0E2F28F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4D195-9D08-5DAB-B35E-570E06F7B6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7D744A-818B-A547-A7CE-8AF1707C173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27912-D1E1-D5EE-74F3-C9A37C691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AB4C2-DF88-778C-D96D-5E3A7FEB7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17D2C7-3B61-7A46-AFC8-AF416655D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37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" name="Text 1"/>
          <p:cNvSpPr/>
          <p:nvPr/>
        </p:nvSpPr>
        <p:spPr>
          <a:xfrm>
            <a:off x="670560" y="268224"/>
            <a:ext cx="1097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667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OUR</a:t>
            </a:r>
            <a:r>
              <a:rPr lang="zh-CN" altLang="en-US" sz="1200" b="1" kern="0" spc="667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00" b="1" kern="0" spc="667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670560" y="536448"/>
            <a:ext cx="109728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Building?</a:t>
            </a:r>
            <a:endParaRPr lang="en-US" sz="3467"/>
          </a:p>
        </p:txBody>
      </p:sp>
      <p:sp>
        <p:nvSpPr>
          <p:cNvPr id="5" name="Shape 3"/>
          <p:cNvSpPr/>
          <p:nvPr/>
        </p:nvSpPr>
        <p:spPr>
          <a:xfrm>
            <a:off x="670560" y="1402080"/>
            <a:ext cx="10850880" cy="14874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Text 4"/>
          <p:cNvSpPr/>
          <p:nvPr/>
        </p:nvSpPr>
        <p:spPr>
          <a:xfrm>
            <a:off x="670560" y="1402080"/>
            <a:ext cx="10850880" cy="1487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studying contracts — we are hunting for tradeable signals.</a:t>
            </a:r>
            <a:endParaRPr lang="en-US" sz="2667"/>
          </a:p>
        </p:txBody>
      </p:sp>
      <p:sp>
        <p:nvSpPr>
          <p:cNvPr id="7" name="Shape 5"/>
          <p:cNvSpPr/>
          <p:nvPr/>
        </p:nvSpPr>
        <p:spPr>
          <a:xfrm>
            <a:off x="670560" y="3169920"/>
            <a:ext cx="3535680" cy="32308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8" name="Shape 6"/>
          <p:cNvSpPr/>
          <p:nvPr/>
        </p:nvSpPr>
        <p:spPr>
          <a:xfrm>
            <a:off x="670560" y="3169920"/>
            <a:ext cx="67056" cy="3230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>
              <a:solidFill>
                <a:srgbClr val="CAA84C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890016" y="3316224"/>
            <a:ext cx="463296" cy="463296"/>
          </a:xfrm>
          <a:prstGeom prst="lin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0" name="Text 8"/>
          <p:cNvSpPr/>
          <p:nvPr/>
        </p:nvSpPr>
        <p:spPr>
          <a:xfrm>
            <a:off x="890016" y="3316224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CA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67">
              <a:solidFill>
                <a:srgbClr val="CAA84C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499616" y="3279648"/>
            <a:ext cx="256032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890016" y="3852672"/>
            <a:ext cx="3194304" cy="2255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r_{t,t+5}: the 5-second-ahead return at every second</a:t>
            </a:r>
            <a:endParaRPr lang="en-US" sz="1467"/>
          </a:p>
        </p:txBody>
      </p:sp>
      <p:sp>
        <p:nvSpPr>
          <p:cNvPr id="13" name="Shape 11"/>
          <p:cNvSpPr/>
          <p:nvPr/>
        </p:nvSpPr>
        <p:spPr>
          <a:xfrm>
            <a:off x="4535424" y="3169920"/>
            <a:ext cx="3535680" cy="32308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4" name="Shape 12"/>
          <p:cNvSpPr/>
          <p:nvPr/>
        </p:nvSpPr>
        <p:spPr>
          <a:xfrm>
            <a:off x="4535424" y="3169920"/>
            <a:ext cx="67056" cy="3230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5" name="Shape 13"/>
          <p:cNvSpPr/>
          <p:nvPr/>
        </p:nvSpPr>
        <p:spPr>
          <a:xfrm>
            <a:off x="4754880" y="3316224"/>
            <a:ext cx="463296" cy="463296"/>
          </a:xfrm>
          <a:prstGeom prst="lin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6" name="Text 14"/>
          <p:cNvSpPr/>
          <p:nvPr/>
        </p:nvSpPr>
        <p:spPr>
          <a:xfrm>
            <a:off x="4754880" y="3316224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CA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67">
              <a:solidFill>
                <a:srgbClr val="CAA84C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364480" y="3279648"/>
            <a:ext cx="256032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4754880" y="3852672"/>
            <a:ext cx="3194304" cy="2255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must survive transaction costs and execute at market</a:t>
            </a:r>
            <a:endParaRPr lang="en-US" sz="1467"/>
          </a:p>
        </p:txBody>
      </p:sp>
      <p:sp>
        <p:nvSpPr>
          <p:cNvPr id="19" name="Shape 17"/>
          <p:cNvSpPr/>
          <p:nvPr/>
        </p:nvSpPr>
        <p:spPr>
          <a:xfrm>
            <a:off x="8388096" y="3169920"/>
            <a:ext cx="3535680" cy="32308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20" name="Shape 18"/>
          <p:cNvSpPr/>
          <p:nvPr/>
        </p:nvSpPr>
        <p:spPr>
          <a:xfrm>
            <a:off x="8388096" y="3169920"/>
            <a:ext cx="67056" cy="3230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1" name="Shape 19"/>
          <p:cNvSpPr/>
          <p:nvPr/>
        </p:nvSpPr>
        <p:spPr>
          <a:xfrm>
            <a:off x="8607552" y="3316224"/>
            <a:ext cx="463296" cy="463296"/>
          </a:xfrm>
          <a:prstGeom prst="lin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2" name="Text 20"/>
          <p:cNvSpPr/>
          <p:nvPr/>
        </p:nvSpPr>
        <p:spPr>
          <a:xfrm>
            <a:off x="8607552" y="3316224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CA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67">
              <a:solidFill>
                <a:srgbClr val="CAA84C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9217152" y="3279648"/>
            <a:ext cx="256032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Implication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8607552" y="3852672"/>
            <a:ext cx="3194304" cy="2255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choice — features, filters, model — serves this one objective</a:t>
            </a:r>
            <a:endParaRPr lang="en-US" sz="1467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" name="Text 1"/>
          <p:cNvSpPr/>
          <p:nvPr/>
        </p:nvSpPr>
        <p:spPr>
          <a:xfrm>
            <a:off x="670560" y="268224"/>
            <a:ext cx="1097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667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</a:t>
            </a:r>
            <a:r>
              <a:rPr lang="zh-CN" altLang="en-US" sz="1200" b="1" kern="0" spc="667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00" b="1" kern="0" spc="667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670560" y="536448"/>
            <a:ext cx="109728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Sources, One Panel</a:t>
            </a:r>
            <a:endParaRPr lang="en-US" sz="3467"/>
          </a:p>
        </p:txBody>
      </p:sp>
      <p:sp>
        <p:nvSpPr>
          <p:cNvPr id="5" name="Shape 3"/>
          <p:cNvSpPr/>
          <p:nvPr/>
        </p:nvSpPr>
        <p:spPr>
          <a:xfrm>
            <a:off x="670560" y="2511552"/>
            <a:ext cx="548640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Shape 4"/>
          <p:cNvSpPr/>
          <p:nvPr/>
        </p:nvSpPr>
        <p:spPr>
          <a:xfrm>
            <a:off x="670560" y="1499616"/>
            <a:ext cx="463296" cy="463296"/>
          </a:xfrm>
          <a:prstGeom prst="lin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7" name="Text 5"/>
          <p:cNvSpPr/>
          <p:nvPr/>
        </p:nvSpPr>
        <p:spPr>
          <a:xfrm>
            <a:off x="670560" y="1499616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CA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67">
              <a:solidFill>
                <a:srgbClr val="CAA84C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292352" y="1463040"/>
            <a:ext cx="48768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Book Snapshot</a:t>
            </a:r>
            <a:endParaRPr lang="en-US" sz="1733"/>
          </a:p>
        </p:txBody>
      </p:sp>
      <p:sp>
        <p:nvSpPr>
          <p:cNvPr id="9" name="Text 7"/>
          <p:cNvSpPr/>
          <p:nvPr/>
        </p:nvSpPr>
        <p:spPr>
          <a:xfrm>
            <a:off x="1292352" y="1877568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tick-level · top 5 bid/ask · last snapshot per second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670560" y="3730752"/>
            <a:ext cx="548640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1" name="Shape 9"/>
          <p:cNvSpPr/>
          <p:nvPr/>
        </p:nvSpPr>
        <p:spPr>
          <a:xfrm>
            <a:off x="670560" y="2718816"/>
            <a:ext cx="463296" cy="463296"/>
          </a:xfrm>
          <a:prstGeom prst="lin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2" name="Text 10"/>
          <p:cNvSpPr/>
          <p:nvPr/>
        </p:nvSpPr>
        <p:spPr>
          <a:xfrm>
            <a:off x="670560" y="2718816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CA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67">
              <a:solidFill>
                <a:srgbClr val="CAA84C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92352" y="2682240"/>
            <a:ext cx="48768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Records</a:t>
            </a:r>
            <a:endParaRPr lang="en-US" sz="1733"/>
          </a:p>
        </p:txBody>
      </p:sp>
      <p:sp>
        <p:nvSpPr>
          <p:cNvPr id="14" name="Text 12"/>
          <p:cNvSpPr/>
          <p:nvPr/>
        </p:nvSpPr>
        <p:spPr>
          <a:xfrm>
            <a:off x="1292352" y="3096768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taker-initiated · both up &amp; down sides · directional flow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670560" y="4949952"/>
            <a:ext cx="548640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6" name="Shape 14"/>
          <p:cNvSpPr/>
          <p:nvPr/>
        </p:nvSpPr>
        <p:spPr>
          <a:xfrm>
            <a:off x="670560" y="3938016"/>
            <a:ext cx="463296" cy="463296"/>
          </a:xfrm>
          <a:prstGeom prst="lin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7" name="Text 15"/>
          <p:cNvSpPr/>
          <p:nvPr/>
        </p:nvSpPr>
        <p:spPr>
          <a:xfrm>
            <a:off x="670560" y="3938016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CA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67">
              <a:solidFill>
                <a:srgbClr val="CAA84C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92352" y="3901440"/>
            <a:ext cx="48768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Oracle</a:t>
            </a:r>
            <a:endParaRPr lang="en-US" sz="1733"/>
          </a:p>
        </p:txBody>
      </p:sp>
      <p:sp>
        <p:nvSpPr>
          <p:cNvPr id="19" name="Text 17"/>
          <p:cNvSpPr/>
          <p:nvPr/>
        </p:nvSpPr>
        <p:spPr>
          <a:xfrm>
            <a:off x="1292352" y="4315968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reference price · resampled to 1s · forward-filled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670560" y="6169152"/>
            <a:ext cx="5486400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1" name="Shape 19"/>
          <p:cNvSpPr/>
          <p:nvPr/>
        </p:nvSpPr>
        <p:spPr>
          <a:xfrm>
            <a:off x="670560" y="5157216"/>
            <a:ext cx="463296" cy="463296"/>
          </a:xfrm>
          <a:prstGeom prst="lin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2" name="Text 20"/>
          <p:cNvSpPr/>
          <p:nvPr/>
        </p:nvSpPr>
        <p:spPr>
          <a:xfrm>
            <a:off x="670560" y="5157216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CA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67">
              <a:solidFill>
                <a:srgbClr val="CAA84C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92352" y="5120640"/>
            <a:ext cx="48768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Metadata</a:t>
            </a:r>
            <a:endParaRPr lang="en-US" sz="1733"/>
          </a:p>
        </p:txBody>
      </p:sp>
      <p:sp>
        <p:nvSpPr>
          <p:cNvPr id="24" name="Text 22"/>
          <p:cNvSpPr/>
          <p:nvPr/>
        </p:nvSpPr>
        <p:spPr>
          <a:xfrm>
            <a:off x="1292352" y="5535168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trader_week · strike price K · outcome labels  (auxiliary)</a:t>
            </a:r>
            <a:endParaRPr lang="en-US" sz="1400"/>
          </a:p>
        </p:txBody>
      </p:sp>
      <p:sp>
        <p:nvSpPr>
          <p:cNvPr id="25" name="Shape 23"/>
          <p:cNvSpPr/>
          <p:nvPr/>
        </p:nvSpPr>
        <p:spPr>
          <a:xfrm>
            <a:off x="670560" y="6217920"/>
            <a:ext cx="5486400" cy="316992"/>
          </a:xfrm>
          <a:prstGeom prst="rect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6" name="Text 24"/>
          <p:cNvSpPr/>
          <p:nvPr/>
        </p:nvSpPr>
        <p:spPr>
          <a:xfrm>
            <a:off x="670560" y="6217920"/>
            <a:ext cx="54864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sources resampled → 1-second  ·  Final: contract × second panel</a:t>
            </a:r>
            <a:endParaRPr lang="en-US" sz="1267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5486400" cy="390144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pic>
      <p:sp>
        <p:nvSpPr>
          <p:cNvPr id="28" name="Text 25"/>
          <p:cNvSpPr/>
          <p:nvPr/>
        </p:nvSpPr>
        <p:spPr>
          <a:xfrm>
            <a:off x="6400800" y="5218176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i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Flow EMA vs. Contract Price Path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" name="Text 1"/>
          <p:cNvSpPr/>
          <p:nvPr/>
        </p:nvSpPr>
        <p:spPr>
          <a:xfrm>
            <a:off x="670560" y="268224"/>
            <a:ext cx="1097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667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altLang="zh-CN" sz="1200" b="1" kern="0" spc="667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200" b="1" kern="0" spc="667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FEATURE</a:t>
            </a:r>
            <a:r>
              <a:rPr lang="zh-CN" altLang="en-US" sz="1200" b="1" kern="0" spc="667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00" b="1" kern="0" spc="667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670560" y="536448"/>
            <a:ext cx="109728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of Market Information</a:t>
            </a:r>
            <a:endParaRPr lang="en-US" sz="3467"/>
          </a:p>
        </p:txBody>
      </p:sp>
      <p:sp>
        <p:nvSpPr>
          <p:cNvPr id="5" name="Shape 3"/>
          <p:cNvSpPr/>
          <p:nvPr/>
        </p:nvSpPr>
        <p:spPr>
          <a:xfrm>
            <a:off x="487680" y="1341120"/>
            <a:ext cx="3596640" cy="514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Shape 4"/>
          <p:cNvSpPr/>
          <p:nvPr/>
        </p:nvSpPr>
        <p:spPr>
          <a:xfrm>
            <a:off x="487680" y="1341120"/>
            <a:ext cx="3596640" cy="87782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7" name="Shape 5"/>
          <p:cNvSpPr/>
          <p:nvPr/>
        </p:nvSpPr>
        <p:spPr>
          <a:xfrm>
            <a:off x="670560" y="1548384"/>
            <a:ext cx="463296" cy="463296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8" name="Text 6"/>
          <p:cNvSpPr/>
          <p:nvPr/>
        </p:nvSpPr>
        <p:spPr>
          <a:xfrm>
            <a:off x="670560" y="1548384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>
                <a:solidFill>
                  <a:srgbClr val="CA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33">
              <a:solidFill>
                <a:srgbClr val="CAA84C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243584" y="1463040"/>
            <a:ext cx="2718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PRICING</a:t>
            </a:r>
            <a:endParaRPr lang="en-US" sz="1067"/>
          </a:p>
        </p:txBody>
      </p:sp>
      <p:sp>
        <p:nvSpPr>
          <p:cNvPr id="10" name="Text 8"/>
          <p:cNvSpPr/>
          <p:nvPr/>
        </p:nvSpPr>
        <p:spPr>
          <a:xfrm>
            <a:off x="1243584" y="1755648"/>
            <a:ext cx="2718816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Anchor</a:t>
            </a:r>
            <a:endParaRPr lang="en-US" sz="1600"/>
          </a:p>
        </p:txBody>
      </p:sp>
      <p:sp>
        <p:nvSpPr>
          <p:cNvPr id="11" name="Shape 9"/>
          <p:cNvSpPr/>
          <p:nvPr/>
        </p:nvSpPr>
        <p:spPr>
          <a:xfrm>
            <a:off x="707136" y="2548128"/>
            <a:ext cx="731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2" name="Text 10"/>
          <p:cNvSpPr/>
          <p:nvPr/>
        </p:nvSpPr>
        <p:spPr>
          <a:xfrm>
            <a:off x="877824" y="2414016"/>
            <a:ext cx="308457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TTM · Moneyness · σ realized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707136" y="3425952"/>
            <a:ext cx="731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4" name="Text 12"/>
          <p:cNvSpPr/>
          <p:nvPr/>
        </p:nvSpPr>
        <p:spPr>
          <a:xfrm>
            <a:off x="877824" y="3291840"/>
            <a:ext cx="308457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BSM theoretical price · Delta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707136" y="4303776"/>
            <a:ext cx="731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6" name="Text 14"/>
          <p:cNvSpPr/>
          <p:nvPr/>
        </p:nvSpPr>
        <p:spPr>
          <a:xfrm>
            <a:off x="877824" y="4169664"/>
            <a:ext cx="308457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BSM mispricing (market vs. fair value)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707136" y="5852160"/>
            <a:ext cx="3157728" cy="463296"/>
          </a:xfrm>
          <a:prstGeom prst="rect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8" name="Text 16"/>
          <p:cNvSpPr/>
          <p:nvPr/>
        </p:nvSpPr>
        <p:spPr>
          <a:xfrm>
            <a:off x="707136" y="5852160"/>
            <a:ext cx="315772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contract as short-horizon binary option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4328160" y="1341120"/>
            <a:ext cx="3596640" cy="514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20" name="Shape 18"/>
          <p:cNvSpPr/>
          <p:nvPr/>
        </p:nvSpPr>
        <p:spPr>
          <a:xfrm>
            <a:off x="4328160" y="1341120"/>
            <a:ext cx="3596640" cy="877824"/>
          </a:xfrm>
          <a:prstGeom prst="rect">
            <a:avLst/>
          </a:prstGeom>
          <a:solidFill>
            <a:srgbClr val="2D5A6B"/>
          </a:solidFill>
          <a:ln w="12700">
            <a:solidFill>
              <a:srgbClr val="2D5A6B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1" name="Shape 19"/>
          <p:cNvSpPr/>
          <p:nvPr/>
        </p:nvSpPr>
        <p:spPr>
          <a:xfrm>
            <a:off x="4511040" y="1548384"/>
            <a:ext cx="463296" cy="463296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2" name="Text 20"/>
          <p:cNvSpPr/>
          <p:nvPr/>
        </p:nvSpPr>
        <p:spPr>
          <a:xfrm>
            <a:off x="4511040" y="1548384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>
                <a:solidFill>
                  <a:srgbClr val="CA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33">
              <a:solidFill>
                <a:srgbClr val="CAA84C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84064" y="1463040"/>
            <a:ext cx="2718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MICROSTRUCTURE</a:t>
            </a:r>
            <a:endParaRPr lang="en-US" sz="1067"/>
          </a:p>
        </p:txBody>
      </p:sp>
      <p:sp>
        <p:nvSpPr>
          <p:cNvPr id="24" name="Text 22"/>
          <p:cNvSpPr/>
          <p:nvPr/>
        </p:nvSpPr>
        <p:spPr>
          <a:xfrm>
            <a:off x="5084064" y="1755648"/>
            <a:ext cx="2718816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Pressure</a:t>
            </a:r>
            <a:endParaRPr lang="en-US" sz="1600"/>
          </a:p>
        </p:txBody>
      </p:sp>
      <p:sp>
        <p:nvSpPr>
          <p:cNvPr id="25" name="Shape 23"/>
          <p:cNvSpPr/>
          <p:nvPr/>
        </p:nvSpPr>
        <p:spPr>
          <a:xfrm>
            <a:off x="4547616" y="2548128"/>
            <a:ext cx="731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6" name="Text 24"/>
          <p:cNvSpPr/>
          <p:nvPr/>
        </p:nvSpPr>
        <p:spPr>
          <a:xfrm>
            <a:off x="4718304" y="2414016"/>
            <a:ext cx="308457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 · Spread · Micro-price imbalance</a:t>
            </a:r>
            <a:endParaRPr lang="en-US" sz="1400"/>
          </a:p>
        </p:txBody>
      </p:sp>
      <p:sp>
        <p:nvSpPr>
          <p:cNvPr id="27" name="Shape 25"/>
          <p:cNvSpPr/>
          <p:nvPr/>
        </p:nvSpPr>
        <p:spPr>
          <a:xfrm>
            <a:off x="4547616" y="3425952"/>
            <a:ext cx="731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8" name="Text 26"/>
          <p:cNvSpPr/>
          <p:nvPr/>
        </p:nvSpPr>
        <p:spPr>
          <a:xfrm>
            <a:off x="4718304" y="3291840"/>
            <a:ext cx="308457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Flow EMA (15s / 60s) · CVD</a:t>
            </a:r>
            <a:endParaRPr lang="en-US" sz="1400"/>
          </a:p>
        </p:txBody>
      </p:sp>
      <p:sp>
        <p:nvSpPr>
          <p:cNvPr id="29" name="Shape 27"/>
          <p:cNvSpPr/>
          <p:nvPr/>
        </p:nvSpPr>
        <p:spPr>
          <a:xfrm>
            <a:off x="4547616" y="4303776"/>
            <a:ext cx="731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0" name="Text 28"/>
          <p:cNvSpPr/>
          <p:nvPr/>
        </p:nvSpPr>
        <p:spPr>
          <a:xfrm>
            <a:off x="4718304" y="4169664"/>
            <a:ext cx="308457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urgency · Whale imbalance</a:t>
            </a:r>
            <a:endParaRPr lang="en-US" sz="1400"/>
          </a:p>
        </p:txBody>
      </p:sp>
      <p:sp>
        <p:nvSpPr>
          <p:cNvPr id="31" name="Shape 29"/>
          <p:cNvSpPr/>
          <p:nvPr/>
        </p:nvSpPr>
        <p:spPr>
          <a:xfrm>
            <a:off x="4547616" y="5852160"/>
            <a:ext cx="3157728" cy="463296"/>
          </a:xfrm>
          <a:prstGeom prst="rect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2" name="Text 30"/>
          <p:cNvSpPr/>
          <p:nvPr/>
        </p:nvSpPr>
        <p:spPr>
          <a:xfrm>
            <a:off x="4547616" y="5852160"/>
            <a:ext cx="315772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trading, how aggressively, right now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8168640" y="1341120"/>
            <a:ext cx="3596640" cy="514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34" name="Shape 32"/>
          <p:cNvSpPr/>
          <p:nvPr/>
        </p:nvSpPr>
        <p:spPr>
          <a:xfrm>
            <a:off x="8168640" y="1341120"/>
            <a:ext cx="3596640" cy="877824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5" name="Shape 33"/>
          <p:cNvSpPr/>
          <p:nvPr/>
        </p:nvSpPr>
        <p:spPr>
          <a:xfrm>
            <a:off x="8351520" y="1548384"/>
            <a:ext cx="463296" cy="463296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6" name="Text 34"/>
          <p:cNvSpPr/>
          <p:nvPr/>
        </p:nvSpPr>
        <p:spPr>
          <a:xfrm>
            <a:off x="8351520" y="1548384"/>
            <a:ext cx="46329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>
                <a:solidFill>
                  <a:srgbClr val="CA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33">
              <a:solidFill>
                <a:srgbClr val="CAA84C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8924544" y="1463040"/>
            <a:ext cx="2718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kern="0" spc="40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REGIME</a:t>
            </a:r>
            <a:endParaRPr lang="en-US" sz="1067"/>
          </a:p>
        </p:txBody>
      </p:sp>
      <p:sp>
        <p:nvSpPr>
          <p:cNvPr id="38" name="Text 36"/>
          <p:cNvSpPr/>
          <p:nvPr/>
        </p:nvSpPr>
        <p:spPr>
          <a:xfrm>
            <a:off x="8924544" y="1755648"/>
            <a:ext cx="2718816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Environment</a:t>
            </a:r>
            <a:endParaRPr lang="en-US" sz="1600"/>
          </a:p>
        </p:txBody>
      </p:sp>
      <p:sp>
        <p:nvSpPr>
          <p:cNvPr id="39" name="Shape 37"/>
          <p:cNvSpPr/>
          <p:nvPr/>
        </p:nvSpPr>
        <p:spPr>
          <a:xfrm>
            <a:off x="8388096" y="2548128"/>
            <a:ext cx="731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40" name="Text 38"/>
          <p:cNvSpPr/>
          <p:nvPr/>
        </p:nvSpPr>
        <p:spPr>
          <a:xfrm>
            <a:off x="8558784" y="2414016"/>
            <a:ext cx="308457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return: 15min · 1h</a:t>
            </a:r>
            <a:endParaRPr lang="en-US" sz="1400"/>
          </a:p>
        </p:txBody>
      </p:sp>
      <p:sp>
        <p:nvSpPr>
          <p:cNvPr id="41" name="Shape 39"/>
          <p:cNvSpPr/>
          <p:nvPr/>
        </p:nvSpPr>
        <p:spPr>
          <a:xfrm>
            <a:off x="8388096" y="3425952"/>
            <a:ext cx="731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42" name="Text 40"/>
          <p:cNvSpPr/>
          <p:nvPr/>
        </p:nvSpPr>
        <p:spPr>
          <a:xfrm>
            <a:off x="8558784" y="3291840"/>
            <a:ext cx="308457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volatility: 15min · 1h</a:t>
            </a:r>
            <a:endParaRPr lang="en-US" sz="1400"/>
          </a:p>
        </p:txBody>
      </p:sp>
      <p:sp>
        <p:nvSpPr>
          <p:cNvPr id="43" name="Shape 41"/>
          <p:cNvSpPr/>
          <p:nvPr/>
        </p:nvSpPr>
        <p:spPr>
          <a:xfrm>
            <a:off x="8388096" y="4303776"/>
            <a:ext cx="73152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44" name="Text 42"/>
          <p:cNvSpPr/>
          <p:nvPr/>
        </p:nvSpPr>
        <p:spPr>
          <a:xfrm>
            <a:off x="8558784" y="4169664"/>
            <a:ext cx="3084576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vs. trending vs. high-vol regime</a:t>
            </a:r>
            <a:endParaRPr lang="en-US" sz="1400"/>
          </a:p>
        </p:txBody>
      </p:sp>
      <p:sp>
        <p:nvSpPr>
          <p:cNvPr id="45" name="Shape 43"/>
          <p:cNvSpPr/>
          <p:nvPr/>
        </p:nvSpPr>
        <p:spPr>
          <a:xfrm>
            <a:off x="8388096" y="5852160"/>
            <a:ext cx="3157728" cy="463296"/>
          </a:xfrm>
          <a:prstGeom prst="rect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46" name="Text 44"/>
          <p:cNvSpPr/>
          <p:nvPr/>
        </p:nvSpPr>
        <p:spPr>
          <a:xfrm>
            <a:off x="8388096" y="5852160"/>
            <a:ext cx="3157728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 which each second is traded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" name="Text 1"/>
          <p:cNvSpPr/>
          <p:nvPr/>
        </p:nvSpPr>
        <p:spPr>
          <a:xfrm>
            <a:off x="670560" y="268224"/>
            <a:ext cx="1097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667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SAMPLE REFINEMENT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670560" y="536448"/>
            <a:ext cx="109728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for Tradeable Moments</a:t>
            </a:r>
            <a:endParaRPr lang="en-US" sz="3467"/>
          </a:p>
        </p:txBody>
      </p:sp>
      <p:sp>
        <p:nvSpPr>
          <p:cNvPr id="5" name="Shape 3"/>
          <p:cNvSpPr/>
          <p:nvPr/>
        </p:nvSpPr>
        <p:spPr>
          <a:xfrm>
            <a:off x="585216" y="1438656"/>
            <a:ext cx="6339840" cy="999744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6" name="Shape 4"/>
          <p:cNvSpPr/>
          <p:nvPr/>
        </p:nvSpPr>
        <p:spPr>
          <a:xfrm>
            <a:off x="585216" y="1438656"/>
            <a:ext cx="67056" cy="999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7" name="Shape 5"/>
          <p:cNvSpPr/>
          <p:nvPr/>
        </p:nvSpPr>
        <p:spPr>
          <a:xfrm>
            <a:off x="804672" y="1706880"/>
            <a:ext cx="438912" cy="438912"/>
          </a:xfrm>
          <a:prstGeom prst="lin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8" name="Text 6"/>
          <p:cNvSpPr/>
          <p:nvPr/>
        </p:nvSpPr>
        <p:spPr>
          <a:xfrm>
            <a:off x="804672" y="1706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CA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67">
              <a:solidFill>
                <a:srgbClr val="CAA84C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414272" y="1511808"/>
            <a:ext cx="5340096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structurally incomplete contracts</a:t>
            </a:r>
            <a:endParaRPr lang="en-US" sz="1533"/>
          </a:p>
        </p:txBody>
      </p:sp>
      <p:sp>
        <p:nvSpPr>
          <p:cNvPr id="10" name="Text 8"/>
          <p:cNvSpPr/>
          <p:nvPr/>
        </p:nvSpPr>
        <p:spPr>
          <a:xfrm>
            <a:off x="1414272" y="1877568"/>
            <a:ext cx="53400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contracts where Chainlink data is missing or stale — pricing features cannot be reliably constructed</a:t>
            </a:r>
            <a:endParaRPr lang="en-US" sz="1333"/>
          </a:p>
        </p:txBody>
      </p:sp>
      <p:sp>
        <p:nvSpPr>
          <p:cNvPr id="11" name="Shape 9"/>
          <p:cNvSpPr/>
          <p:nvPr/>
        </p:nvSpPr>
        <p:spPr>
          <a:xfrm>
            <a:off x="585216" y="2633472"/>
            <a:ext cx="6339840" cy="999744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2" name="Shape 10"/>
          <p:cNvSpPr/>
          <p:nvPr/>
        </p:nvSpPr>
        <p:spPr>
          <a:xfrm>
            <a:off x="585216" y="2633472"/>
            <a:ext cx="67056" cy="999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3" name="Shape 11"/>
          <p:cNvSpPr/>
          <p:nvPr/>
        </p:nvSpPr>
        <p:spPr>
          <a:xfrm>
            <a:off x="804672" y="2901696"/>
            <a:ext cx="438912" cy="438912"/>
          </a:xfrm>
          <a:prstGeom prst="lin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4" name="Text 12"/>
          <p:cNvSpPr/>
          <p:nvPr/>
        </p:nvSpPr>
        <p:spPr>
          <a:xfrm>
            <a:off x="804672" y="2901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CA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67">
              <a:solidFill>
                <a:srgbClr val="CAA84C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14272" y="2706624"/>
            <a:ext cx="5340096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warm-up intervals</a:t>
            </a:r>
            <a:endParaRPr lang="en-US" sz="1533"/>
          </a:p>
        </p:txBody>
      </p:sp>
      <p:sp>
        <p:nvSpPr>
          <p:cNvPr id="16" name="Text 14"/>
          <p:cNvSpPr/>
          <p:nvPr/>
        </p:nvSpPr>
        <p:spPr>
          <a:xfrm>
            <a:off x="1414272" y="3072384"/>
            <a:ext cx="53400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&amp; EWMA features need time to mature — early seconds in each contract are discarded</a:t>
            </a:r>
            <a:endParaRPr lang="en-US" sz="1333"/>
          </a:p>
        </p:txBody>
      </p:sp>
      <p:sp>
        <p:nvSpPr>
          <p:cNvPr id="17" name="Shape 15"/>
          <p:cNvSpPr/>
          <p:nvPr/>
        </p:nvSpPr>
        <p:spPr>
          <a:xfrm>
            <a:off x="585216" y="3828288"/>
            <a:ext cx="6339840" cy="999744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18" name="Shape 16"/>
          <p:cNvSpPr/>
          <p:nvPr/>
        </p:nvSpPr>
        <p:spPr>
          <a:xfrm>
            <a:off x="585216" y="3828288"/>
            <a:ext cx="67056" cy="999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9" name="Shape 17"/>
          <p:cNvSpPr/>
          <p:nvPr/>
        </p:nvSpPr>
        <p:spPr>
          <a:xfrm>
            <a:off x="804672" y="4096512"/>
            <a:ext cx="438912" cy="438912"/>
          </a:xfrm>
          <a:prstGeom prst="lin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0" name="Text 18"/>
          <p:cNvSpPr/>
          <p:nvPr/>
        </p:nvSpPr>
        <p:spPr>
          <a:xfrm>
            <a:off x="804672" y="40965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CA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67">
              <a:solidFill>
                <a:srgbClr val="CAA84C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14272" y="3901440"/>
            <a:ext cx="5340096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end-of-contract intervals</a:t>
            </a:r>
            <a:endParaRPr lang="en-US" sz="1533"/>
          </a:p>
        </p:txBody>
      </p:sp>
      <p:sp>
        <p:nvSpPr>
          <p:cNvPr id="22" name="Text 20"/>
          <p:cNvSpPr/>
          <p:nvPr/>
        </p:nvSpPr>
        <p:spPr>
          <a:xfrm>
            <a:off x="1414272" y="4267200"/>
            <a:ext cx="53400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collapses near expiry — prices become uninformative and execution is unreliable</a:t>
            </a:r>
            <a:endParaRPr lang="en-US" sz="1333"/>
          </a:p>
        </p:txBody>
      </p:sp>
      <p:sp>
        <p:nvSpPr>
          <p:cNvPr id="23" name="Shape 21"/>
          <p:cNvSpPr/>
          <p:nvPr/>
        </p:nvSpPr>
        <p:spPr>
          <a:xfrm>
            <a:off x="585216" y="5023104"/>
            <a:ext cx="6339840" cy="999744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24" name="Shape 22"/>
          <p:cNvSpPr/>
          <p:nvPr/>
        </p:nvSpPr>
        <p:spPr>
          <a:xfrm>
            <a:off x="585216" y="5023104"/>
            <a:ext cx="67056" cy="999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5" name="Shape 23"/>
          <p:cNvSpPr/>
          <p:nvPr/>
        </p:nvSpPr>
        <p:spPr>
          <a:xfrm>
            <a:off x="804672" y="5291328"/>
            <a:ext cx="438912" cy="438912"/>
          </a:xfrm>
          <a:prstGeom prst="lin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26" name="Text 24"/>
          <p:cNvSpPr/>
          <p:nvPr/>
        </p:nvSpPr>
        <p:spPr>
          <a:xfrm>
            <a:off x="804672" y="5291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>
                <a:solidFill>
                  <a:srgbClr val="CA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67">
              <a:solidFill>
                <a:srgbClr val="CAA84C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1414272" y="5096256"/>
            <a:ext cx="5340096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filter</a:t>
            </a:r>
            <a:endParaRPr lang="en-US" sz="1533"/>
          </a:p>
        </p:txBody>
      </p:sp>
      <p:sp>
        <p:nvSpPr>
          <p:cNvPr id="28" name="Text 26"/>
          <p:cNvSpPr/>
          <p:nvPr/>
        </p:nvSpPr>
        <p:spPr>
          <a:xfrm>
            <a:off x="1414272" y="5462016"/>
            <a:ext cx="5340096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keep seconds where a market order can actually execute — signals must be actionable</a:t>
            </a:r>
            <a:endParaRPr lang="en-US" sz="1333"/>
          </a:p>
        </p:txBody>
      </p:sp>
      <p:sp>
        <p:nvSpPr>
          <p:cNvPr id="29" name="Shape 27"/>
          <p:cNvSpPr/>
          <p:nvPr/>
        </p:nvSpPr>
        <p:spPr>
          <a:xfrm>
            <a:off x="7193280" y="1438656"/>
            <a:ext cx="4389120" cy="2438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30" name="Text 28"/>
          <p:cNvSpPr/>
          <p:nvPr/>
        </p:nvSpPr>
        <p:spPr>
          <a:xfrm>
            <a:off x="7193280" y="1560576"/>
            <a:ext cx="4389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kern="0" spc="533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67"/>
          </a:p>
        </p:txBody>
      </p:sp>
      <p:sp>
        <p:nvSpPr>
          <p:cNvPr id="31" name="Text 29"/>
          <p:cNvSpPr/>
          <p:nvPr/>
        </p:nvSpPr>
        <p:spPr>
          <a:xfrm>
            <a:off x="7193280" y="1926336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stage, contracts are irrelevant.</a:t>
            </a:r>
            <a:endParaRPr lang="en-US" sz="1867"/>
          </a:p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individual tradeable seconds matter.</a:t>
            </a:r>
            <a:endParaRPr lang="en-US" sz="1867"/>
          </a:p>
        </p:txBody>
      </p:sp>
      <p:sp>
        <p:nvSpPr>
          <p:cNvPr id="32" name="Shape 30"/>
          <p:cNvSpPr/>
          <p:nvPr/>
        </p:nvSpPr>
        <p:spPr>
          <a:xfrm>
            <a:off x="7680960" y="3218688"/>
            <a:ext cx="3413760" cy="0"/>
          </a:xfrm>
          <a:prstGeom prst="line">
            <a:avLst/>
          </a:prstGeom>
          <a:noFill/>
          <a:ln w="9525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33" name="Text 31"/>
          <p:cNvSpPr/>
          <p:nvPr/>
        </p:nvSpPr>
        <p:spPr>
          <a:xfrm>
            <a:off x="7193280" y="3316224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i="1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contract-level features (moneyness, TTM) were computed per-contract before this step — the two stages do not conflict.</a:t>
            </a:r>
            <a:endParaRPr lang="en-US" sz="120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280" y="4047744"/>
            <a:ext cx="4389120" cy="243840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pic>
      <p:sp>
        <p:nvSpPr>
          <p:cNvPr id="35" name="Text 32"/>
          <p:cNvSpPr/>
          <p:nvPr/>
        </p:nvSpPr>
        <p:spPr>
          <a:xfrm>
            <a:off x="7193280" y="6510528"/>
            <a:ext cx="438912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i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Moneyness vs. Mid-Price — active trading period</a:t>
            </a:r>
            <a:endParaRPr lang="en-US" sz="1133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670560" y="268224"/>
            <a:ext cx="1097280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667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FEATURE SELECTION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70560" y="536448"/>
            <a:ext cx="109728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29 Candidates to 21 Final Features</a:t>
            </a:r>
            <a:endParaRPr lang="en-US" sz="3467" dirty="0"/>
          </a:p>
        </p:txBody>
      </p:sp>
      <p:sp>
        <p:nvSpPr>
          <p:cNvPr id="5" name="Shape 3"/>
          <p:cNvSpPr/>
          <p:nvPr/>
        </p:nvSpPr>
        <p:spPr>
          <a:xfrm>
            <a:off x="585216" y="1365504"/>
            <a:ext cx="3657600" cy="1560576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585216" y="1365504"/>
            <a:ext cx="67056" cy="1560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804672" y="1487424"/>
            <a:ext cx="487680" cy="487680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04672" y="1487424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1438656" y="1463040"/>
            <a:ext cx="26822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Screening</a:t>
            </a:r>
            <a:endParaRPr lang="en-US" sz="1533" dirty="0"/>
          </a:p>
        </p:txBody>
      </p:sp>
      <p:sp>
        <p:nvSpPr>
          <p:cNvPr id="10" name="Text 8"/>
          <p:cNvSpPr/>
          <p:nvPr/>
        </p:nvSpPr>
        <p:spPr>
          <a:xfrm>
            <a:off x="804672" y="1975104"/>
            <a:ext cx="3316224" cy="829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all candidates by information gain across multiple random seeds + grid search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4291584" y="1365504"/>
            <a:ext cx="3657600" cy="1560576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4291584" y="1365504"/>
            <a:ext cx="67056" cy="1560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1"/>
          <p:cNvSpPr/>
          <p:nvPr/>
        </p:nvSpPr>
        <p:spPr>
          <a:xfrm>
            <a:off x="4511040" y="1487424"/>
            <a:ext cx="487680" cy="487680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4511040" y="1487424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5145024" y="1463040"/>
            <a:ext cx="26822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Filter (CV)</a:t>
            </a:r>
            <a:endParaRPr lang="en-US" sz="1533" dirty="0"/>
          </a:p>
        </p:txBody>
      </p:sp>
      <p:sp>
        <p:nvSpPr>
          <p:cNvPr id="16" name="Text 14"/>
          <p:cNvSpPr/>
          <p:nvPr/>
        </p:nvSpPr>
        <p:spPr>
          <a:xfrm>
            <a:off x="4511040" y="1975104"/>
            <a:ext cx="3316224" cy="829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only features with both high mean gain AND low coefficient of variation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7997952" y="1365504"/>
            <a:ext cx="3657600" cy="1560576"/>
          </a:xfrm>
          <a:prstGeom prst="rect">
            <a:avLst/>
          </a:prstGeom>
          <a:solidFill>
            <a:srgbClr val="FFFFFF"/>
          </a:solidFill>
          <a:ln w="9525">
            <a:solidFill>
              <a:srgbClr val="EAEC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7997952" y="1365504"/>
            <a:ext cx="67056" cy="1560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8217408" y="1487424"/>
            <a:ext cx="487680" cy="487680"/>
          </a:xfrm>
          <a:prstGeom prst="lin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8217408" y="1487424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8851392" y="1463040"/>
            <a:ext cx="26822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Clustering</a:t>
            </a:r>
            <a:endParaRPr lang="en-US" sz="1533" dirty="0"/>
          </a:p>
        </p:txBody>
      </p:sp>
      <p:sp>
        <p:nvSpPr>
          <p:cNvPr id="22" name="Text 20"/>
          <p:cNvSpPr/>
          <p:nvPr/>
        </p:nvSpPr>
        <p:spPr>
          <a:xfrm>
            <a:off x="8217408" y="1975104"/>
            <a:ext cx="3316224" cy="829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with correlation ≥ 0.8 form a cluster — keep the best, drop the rest</a:t>
            </a:r>
            <a:endParaRPr lang="en-US" sz="1333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3169920"/>
            <a:ext cx="5547360" cy="335280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pic>
      <p:sp>
        <p:nvSpPr>
          <p:cNvPr id="24" name="Text 21"/>
          <p:cNvSpPr/>
          <p:nvPr/>
        </p:nvSpPr>
        <p:spPr>
          <a:xfrm>
            <a:off x="585216" y="6534912"/>
            <a:ext cx="554736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by information gain</a:t>
            </a:r>
            <a:endParaRPr lang="en-US" sz="1133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840" y="3169920"/>
            <a:ext cx="5242560" cy="335280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pic>
      <p:sp>
        <p:nvSpPr>
          <p:cNvPr id="26" name="Text 22"/>
          <p:cNvSpPr/>
          <p:nvPr/>
        </p:nvSpPr>
        <p:spPr>
          <a:xfrm>
            <a:off x="6339840" y="6534912"/>
            <a:ext cx="524256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33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clustering — blue = selected, grey = eliminated</a:t>
            </a:r>
            <a:endParaRPr lang="en-US" sz="11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471</Words>
  <Application>Microsoft Macintosh PowerPoint</Application>
  <PresentationFormat>Widescreen</PresentationFormat>
  <Paragraphs>88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Mory Shi</dc:creator>
  <cp:lastModifiedBy>Mory Shi</cp:lastModifiedBy>
  <cp:revision>2</cp:revision>
  <dcterms:created xsi:type="dcterms:W3CDTF">2026-04-15T20:54:34Z</dcterms:created>
  <dcterms:modified xsi:type="dcterms:W3CDTF">2026-04-15T21:10:15Z</dcterms:modified>
</cp:coreProperties>
</file>